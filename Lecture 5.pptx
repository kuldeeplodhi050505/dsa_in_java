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media/image20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283" r:id="rId4"/>
    <p:sldId id="257" r:id="rId5"/>
    <p:sldId id="259" r:id="rId6"/>
    <p:sldId id="285" r:id="rId7"/>
    <p:sldId id="260" r:id="rId8"/>
    <p:sldId id="297" r:id="rId9"/>
    <p:sldId id="291" r:id="rId10"/>
    <p:sldId id="299" r:id="rId11"/>
    <p:sldId id="293" r:id="rId12"/>
    <p:sldId id="261" r:id="rId13"/>
    <p:sldId id="298" r:id="rId14"/>
    <p:sldId id="294" r:id="rId15"/>
    <p:sldId id="295" r:id="rId16"/>
    <p:sldId id="262" r:id="rId17"/>
    <p:sldId id="296" r:id="rId18"/>
    <p:sldId id="289" r:id="rId19"/>
    <p:sldId id="290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2" autoAdjust="0"/>
    <p:restoredTop sz="94709"/>
  </p:normalViewPr>
  <p:slideViewPr>
    <p:cSldViewPr snapToGrid="0">
      <p:cViewPr varScale="1">
        <p:scale>
          <a:sx n="75" d="100"/>
          <a:sy n="75" d="100"/>
        </p:scale>
        <p:origin x="2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/>
      <dgm:spPr/>
      <dgm:t>
        <a:bodyPr/>
        <a:lstStyle/>
        <a:p>
          <a:r>
            <a:rPr lang="en-IN" dirty="0"/>
            <a:t>Learning Outcome 1: Identify various mobile platforms.</a:t>
          </a:r>
          <a:endParaRPr lang="en-US" dirty="0"/>
        </a:p>
      </dgm:t>
    </dgm:pt>
    <dgm:pt modelId="{A7069F57-F0E9-4BC0-BE1B-B8F059C9E5B6}" cxnId="{32A129EE-3813-43B6-AF53-E9A6D3182FA2}" type="parTrans">
      <dgm:prSet/>
      <dgm:spPr/>
      <dgm:t>
        <a:bodyPr/>
        <a:lstStyle/>
        <a:p>
          <a:endParaRPr lang="en-US"/>
        </a:p>
      </dgm:t>
    </dgm:pt>
    <dgm:pt modelId="{0715BA3E-6351-4C71-A2A0-855403651045}" cxnId="{32A129EE-3813-43B6-AF53-E9A6D3182FA2}" type="sibTrans">
      <dgm:prSet/>
      <dgm:spPr/>
      <dgm:t>
        <a:bodyPr/>
        <a:lstStyle/>
        <a:p>
          <a:endParaRPr lang="en-US"/>
        </a:p>
      </dgm:t>
    </dgm:pt>
    <dgm:pt modelId="{5DFF202F-D7F4-4440-99C1-F1CFA9105A9D}">
      <dgm:prSet/>
      <dgm:spPr/>
      <dgm:t>
        <a:bodyPr/>
        <a:lstStyle/>
        <a:p>
          <a:r>
            <a:rPr lang="en-IN" dirty="0"/>
            <a:t>Learning Outcome 2: Distinguish among various mobile platforms.</a:t>
          </a:r>
          <a:endParaRPr lang="en-GB" dirty="0"/>
        </a:p>
      </dgm:t>
    </dgm:pt>
    <dgm:pt modelId="{3E175F95-5E69-6348-91F5-94B9A5D864EA}" cxnId="{AD0BEA7A-9494-FA40-B34C-5DDFC5E3CB3D}" type="parTrans">
      <dgm:prSet/>
      <dgm:spPr/>
      <dgm:t>
        <a:bodyPr/>
        <a:lstStyle/>
        <a:p>
          <a:endParaRPr lang="en-GB"/>
        </a:p>
      </dgm:t>
    </dgm:pt>
    <dgm:pt modelId="{E8982ED4-5FAB-D349-BC15-B4940E928B4B}" cxnId="{AD0BEA7A-9494-FA40-B34C-5DDFC5E3CB3D}" type="sibTrans">
      <dgm:prSet/>
      <dgm:spPr/>
      <dgm:t>
        <a:bodyPr/>
        <a:lstStyle/>
        <a:p>
          <a:endParaRPr lang="en-GB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134AA4AE-2DFE-1546-BBD4-F044F93166AF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23089670-C5B7-BD45-B842-57A61267D14C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CE0E4259-F875-EB42-9078-3CA74E1F6D7F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3478BCB4-FB78-EE46-8CD1-69D52F2E7170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EA112AA2-C9EE-CD4C-8B08-E142066870DB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CC84531F-532A-DE41-A8D5-C603B1BA70C7}" type="presOf" srcId="{DFBD6BAB-0140-48B9-9073-E08FDCB01885}" destId="{3478BCB4-FB78-EE46-8CD1-69D52F2E7170}" srcOrd="1" destOrd="0" presId="urn:microsoft.com/office/officeart/2005/8/layout/vProcess5"/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AA735931-0E95-884A-9E74-70414FA476AC}" type="presOf" srcId="{5DFF202F-D7F4-4440-99C1-F1CFA9105A9D}" destId="{23089670-C5B7-BD45-B842-57A61267D14C}" srcOrd="0" destOrd="0" presId="urn:microsoft.com/office/officeart/2005/8/layout/vProcess5"/>
    <dgm:cxn modelId="{A5B9B75A-E303-5D45-9FE7-BA2B7B5B6143}" type="presOf" srcId="{5DFF202F-D7F4-4440-99C1-F1CFA9105A9D}" destId="{EA112AA2-C9EE-CD4C-8B08-E142066870DB}" srcOrd="1" destOrd="0" presId="urn:microsoft.com/office/officeart/2005/8/layout/vProcess5"/>
    <dgm:cxn modelId="{AD0BEA7A-9494-FA40-B34C-5DDFC5E3CB3D}" srcId="{B7ED251F-A7A3-4D25-B004-4241BE03EDC3}" destId="{5DFF202F-D7F4-4440-99C1-F1CFA9105A9D}" srcOrd="1" destOrd="0" parTransId="{3E175F95-5E69-6348-91F5-94B9A5D864EA}" sibTransId="{E8982ED4-5FAB-D349-BC15-B4940E928B4B}"/>
    <dgm:cxn modelId="{6B7585AA-1DC5-9042-82F7-981B61F7A6B8}" type="presOf" srcId="{0715BA3E-6351-4C71-A2A0-855403651045}" destId="{CE0E4259-F875-EB42-9078-3CA74E1F6D7F}" srcOrd="0" destOrd="0" presId="urn:microsoft.com/office/officeart/2005/8/layout/vProcess5"/>
    <dgm:cxn modelId="{34AA33D6-5923-4D45-8A80-5E57CD834B7E}" type="presOf" srcId="{DFBD6BAB-0140-48B9-9073-E08FDCB01885}" destId="{134AA4AE-2DFE-1546-BBD4-F044F93166AF}" srcOrd="0" destOrd="0" presId="urn:microsoft.com/office/officeart/2005/8/layout/vProcess5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9DDE9901-A193-9649-AA79-C3F6776677F9}" type="presParOf" srcId="{E218E0F1-97EC-4D60-8F4A-A6E21D910199}" destId="{134AA4AE-2DFE-1546-BBD4-F044F93166AF}" srcOrd="1" destOrd="0" presId="urn:microsoft.com/office/officeart/2005/8/layout/vProcess5"/>
    <dgm:cxn modelId="{4DF6F87D-0AC8-3C46-B6C4-945B50330BB7}" type="presParOf" srcId="{E218E0F1-97EC-4D60-8F4A-A6E21D910199}" destId="{23089670-C5B7-BD45-B842-57A61267D14C}" srcOrd="2" destOrd="0" presId="urn:microsoft.com/office/officeart/2005/8/layout/vProcess5"/>
    <dgm:cxn modelId="{666B2C8F-5E38-7042-9E13-481A335C8B9B}" type="presParOf" srcId="{E218E0F1-97EC-4D60-8F4A-A6E21D910199}" destId="{CE0E4259-F875-EB42-9078-3CA74E1F6D7F}" srcOrd="3" destOrd="0" presId="urn:microsoft.com/office/officeart/2005/8/layout/vProcess5"/>
    <dgm:cxn modelId="{C72924D4-70A7-034B-A4DF-0CE2EC968487}" type="presParOf" srcId="{E218E0F1-97EC-4D60-8F4A-A6E21D910199}" destId="{3478BCB4-FB78-EE46-8CD1-69D52F2E7170}" srcOrd="4" destOrd="0" presId="urn:microsoft.com/office/officeart/2005/8/layout/vProcess5"/>
    <dgm:cxn modelId="{3696CE7F-BB97-EB48-A166-5A8AD30470B7}" type="presParOf" srcId="{E218E0F1-97EC-4D60-8F4A-A6E21D910199}" destId="{EA112AA2-C9EE-CD4C-8B08-E142066870DB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/>
            <a:t>1. Identify various mobile platforms.</a:t>
          </a:r>
        </a:p>
      </dgm:t>
    </dgm:pt>
    <dgm:pt modelId="{BBCFB319-5299-4310-B646-22472DABF40A}" cxnId="{942D76EB-4E8A-49F9-9193-131FE6139044}" type="parTrans">
      <dgm:prSet/>
      <dgm:spPr/>
      <dgm:t>
        <a:bodyPr/>
        <a:lstStyle/>
        <a:p>
          <a:endParaRPr lang="en-US"/>
        </a:p>
      </dgm:t>
    </dgm:pt>
    <dgm:pt modelId="{AF1C4F3A-D240-4EB1-9ECB-2ED225CCC019}" cxnId="{942D76EB-4E8A-49F9-9193-131FE6139044}" type="sibTrans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/>
            <a:t>2 Distinguish among the mobile platforms.</a:t>
          </a:r>
          <a:endParaRPr lang="en-US" dirty="0"/>
        </a:p>
      </dgm:t>
    </dgm:pt>
    <dgm:pt modelId="{23B85C74-2F21-4685-BD89-BB563657B099}" cxnId="{6DCFA649-9D6E-469B-AACA-1BA847263E9A}" type="parTrans">
      <dgm:prSet/>
      <dgm:spPr/>
      <dgm:t>
        <a:bodyPr/>
        <a:lstStyle/>
        <a:p>
          <a:endParaRPr lang="en-US"/>
        </a:p>
      </dgm:t>
    </dgm:pt>
    <dgm:pt modelId="{91F4A534-BBDE-4EB5-BAE5-EACEB7D0B868}" cxnId="{6DCFA649-9D6E-469B-AACA-1BA847263E9A}" type="sibTrans">
      <dgm:prSet/>
      <dgm:spPr/>
      <dgm:t>
        <a:bodyPr/>
        <a:lstStyle/>
        <a:p>
          <a:endParaRPr lang="en-US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</dgm:pt>
    <dgm:pt modelId="{6FF76B5C-2320-4CB5-9844-D984662B1716}" type="pres">
      <dgm:prSet presAssocID="{C8BD7C71-8F1B-400D-96A3-6B553A93EB7F}" presName="thickLine" presStyleLbl="alignNode1" presStyleIdx="0" presStyleCnt="2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2"/>
      <dgm:spPr/>
    </dgm:pt>
    <dgm:pt modelId="{608B7948-37DA-4DDD-A56D-16AA8CC3AD50}" type="pres">
      <dgm:prSet presAssocID="{C8BD7C71-8F1B-400D-96A3-6B553A93EB7F}" presName="vert1" presStyleCnt="0"/>
      <dgm:spPr/>
    </dgm:pt>
    <dgm:pt modelId="{F83A5B86-9D43-4C81-A6D4-87875817B689}" type="pres">
      <dgm:prSet presAssocID="{311F9A05-A7F4-4328-B319-DBCDF0DF0E82}" presName="thickLine" presStyleLbl="alignNode1" presStyleIdx="1" presStyleCnt="2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1" presStyleCnt="2"/>
      <dgm:spPr/>
    </dgm:pt>
    <dgm:pt modelId="{AA11931C-C560-424D-BE37-4872DC1B2048}" type="pres">
      <dgm:prSet presAssocID="{311F9A05-A7F4-4328-B319-DBCDF0DF0E82}" presName="vert1" presStyleCnt="0"/>
      <dgm:spPr/>
    </dgm:pt>
  </dgm:ptLst>
  <dgm:cxnLst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6DCFA649-9D6E-469B-AACA-1BA847263E9A}" srcId="{B64DB52A-CA4F-4852-B41E-6A1F43CC58F9}" destId="{311F9A05-A7F4-4328-B319-DBCDF0DF0E82}" srcOrd="1" destOrd="0" parTransId="{23B85C74-2F21-4685-BD89-BB563657B099}" sibTransId="{91F4A534-BBDE-4EB5-BAE5-EACEB7D0B868}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09135F7C-D882-4001-9420-48C6F669E5A1}" type="presParOf" srcId="{573103A9-89AC-4873-8CB5-0F4B7370B2E1}" destId="{F83A5B86-9D43-4C81-A6D4-87875817B689}" srcOrd="2" destOrd="0" presId="urn:microsoft.com/office/officeart/2008/layout/LinedList"/>
    <dgm:cxn modelId="{42A74311-A9B5-4722-908E-E69DF0F7B3F2}" type="presParOf" srcId="{573103A9-89AC-4873-8CB5-0F4B7370B2E1}" destId="{3BC975C1-0C99-4F97-8C52-C1CFA0BAF551}" srcOrd="3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IN" sz="3600" dirty="0">
              <a:latin typeface="Times New Roman" panose="02020603050405020304" pitchFamily="18" charset="0"/>
              <a:cs typeface="Times New Roman" panose="02020603050405020304" pitchFamily="18" charset="0"/>
            </a:rPr>
            <a:t>Outcome 1: Students can identify various mobile platforms</a:t>
          </a:r>
          <a:r>
            <a:rPr lang="en-IN" sz="3600" dirty="0"/>
            <a:t>.</a:t>
          </a:r>
          <a:endParaRPr lang="en-US" sz="3600" dirty="0"/>
        </a:p>
      </dgm:t>
    </dgm:pt>
    <dgm:pt modelId="{A7069F57-F0E9-4BC0-BE1B-B8F059C9E5B6}" cxnId="{32A129EE-3813-43B6-AF53-E9A6D3182FA2}" type="parTrans">
      <dgm:prSet/>
      <dgm:spPr/>
      <dgm:t>
        <a:bodyPr/>
        <a:lstStyle/>
        <a:p>
          <a:endParaRPr lang="en-US"/>
        </a:p>
      </dgm:t>
    </dgm:pt>
    <dgm:pt modelId="{0715BA3E-6351-4C71-A2A0-855403651045}" cxnId="{32A129EE-3813-43B6-AF53-E9A6D3182FA2}" type="sibTrans">
      <dgm:prSet/>
      <dgm:spPr/>
      <dgm:t>
        <a:bodyPr/>
        <a:lstStyle/>
        <a:p>
          <a:endParaRPr lang="en-US"/>
        </a:p>
      </dgm:t>
    </dgm:pt>
    <dgm:pt modelId="{F0F55CB3-91A0-9A48-9F9C-4FF9F10B5CC5}">
      <dgm:prSet custT="1"/>
      <dgm:spPr/>
      <dgm:t>
        <a:bodyPr/>
        <a:lstStyle/>
        <a:p>
          <a:r>
            <a:rPr lang="en-IN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Outcome 2: Students can distinguish various mobile platforms.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CE71B0-5678-E24E-957C-D7C1123306DD}" cxnId="{933F9829-E573-9D47-A782-4106AA5A54DF}" type="parTrans">
      <dgm:prSet/>
      <dgm:spPr/>
      <dgm:t>
        <a:bodyPr/>
        <a:lstStyle/>
        <a:p>
          <a:endParaRPr lang="en-GB"/>
        </a:p>
      </dgm:t>
    </dgm:pt>
    <dgm:pt modelId="{36FB1602-322C-5346-B6FA-268CD5C0990A}" cxnId="{933F9829-E573-9D47-A782-4106AA5A54DF}" type="sibTrans">
      <dgm:prSet/>
      <dgm:spPr/>
      <dgm:t>
        <a:bodyPr/>
        <a:lstStyle/>
        <a:p>
          <a:endParaRPr lang="en-GB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AF05AAA0-BC1F-4A4E-BCBA-8F2B90B89590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92733FB4-22C0-DC47-B2EA-EA161CCBE328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950656C3-E01E-5647-96E4-C269D970F4B9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8507231A-EAE3-5B4D-B741-EB4A3089DDDB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88BC8D3A-B031-6F43-B60D-BD57332102F4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31551112-2993-7243-AF67-1C66C54FAEE6}" type="presOf" srcId="{F0F55CB3-91A0-9A48-9F9C-4FF9F10B5CC5}" destId="{88BC8D3A-B031-6F43-B60D-BD57332102F4}" srcOrd="1" destOrd="0" presId="urn:microsoft.com/office/officeart/2005/8/layout/vProcess5"/>
    <dgm:cxn modelId="{45A98C19-D0B1-5D4A-94BD-13B8BE2B41A0}" type="presOf" srcId="{F0F55CB3-91A0-9A48-9F9C-4FF9F10B5CC5}" destId="{92733FB4-22C0-DC47-B2EA-EA161CCBE328}" srcOrd="0" destOrd="0" presId="urn:microsoft.com/office/officeart/2005/8/layout/vProcess5"/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933F9829-E573-9D47-A782-4106AA5A54DF}" srcId="{B7ED251F-A7A3-4D25-B004-4241BE03EDC3}" destId="{F0F55CB3-91A0-9A48-9F9C-4FF9F10B5CC5}" srcOrd="1" destOrd="0" parTransId="{2FCE71B0-5678-E24E-957C-D7C1123306DD}" sibTransId="{36FB1602-322C-5346-B6FA-268CD5C0990A}"/>
    <dgm:cxn modelId="{ACE47D38-76E4-734A-B320-627BD847BAC3}" type="presOf" srcId="{0715BA3E-6351-4C71-A2A0-855403651045}" destId="{950656C3-E01E-5647-96E4-C269D970F4B9}" srcOrd="0" destOrd="0" presId="urn:microsoft.com/office/officeart/2005/8/layout/vProcess5"/>
    <dgm:cxn modelId="{6B3E214D-BA0B-B143-82E3-6B6E533EADCE}" type="presOf" srcId="{DFBD6BAB-0140-48B9-9073-E08FDCB01885}" destId="{AF05AAA0-BC1F-4A4E-BCBA-8F2B90B89590}" srcOrd="0" destOrd="0" presId="urn:microsoft.com/office/officeart/2005/8/layout/vProcess5"/>
    <dgm:cxn modelId="{84CD0CB8-E5C7-8442-B9C1-00B63C62F36B}" type="presOf" srcId="{DFBD6BAB-0140-48B9-9073-E08FDCB01885}" destId="{8507231A-EAE3-5B4D-B741-EB4A3089DDDB}" srcOrd="1" destOrd="0" presId="urn:microsoft.com/office/officeart/2005/8/layout/vProcess5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C1BEF82E-2287-E64C-8BDF-619D4EB0EE37}" type="presParOf" srcId="{E218E0F1-97EC-4D60-8F4A-A6E21D910199}" destId="{AF05AAA0-BC1F-4A4E-BCBA-8F2B90B89590}" srcOrd="1" destOrd="0" presId="urn:microsoft.com/office/officeart/2005/8/layout/vProcess5"/>
    <dgm:cxn modelId="{7E075222-218F-0641-8D58-C1C3F48B1BA2}" type="presParOf" srcId="{E218E0F1-97EC-4D60-8F4A-A6E21D910199}" destId="{92733FB4-22C0-DC47-B2EA-EA161CCBE328}" srcOrd="2" destOrd="0" presId="urn:microsoft.com/office/officeart/2005/8/layout/vProcess5"/>
    <dgm:cxn modelId="{0610072A-93BA-6545-BBBD-86413824C579}" type="presParOf" srcId="{E218E0F1-97EC-4D60-8F4A-A6E21D910199}" destId="{950656C3-E01E-5647-96E4-C269D970F4B9}" srcOrd="3" destOrd="0" presId="urn:microsoft.com/office/officeart/2005/8/layout/vProcess5"/>
    <dgm:cxn modelId="{43787720-51EF-784C-AF5B-87B191DEA101}" type="presParOf" srcId="{E218E0F1-97EC-4D60-8F4A-A6E21D910199}" destId="{8507231A-EAE3-5B4D-B741-EB4A3089DDDB}" srcOrd="4" destOrd="0" presId="urn:microsoft.com/office/officeart/2005/8/layout/vProcess5"/>
    <dgm:cxn modelId="{6351B7D5-56AA-AB4C-A1A6-82C36890415D}" type="presParOf" srcId="{E218E0F1-97EC-4D60-8F4A-A6E21D910199}" destId="{88BC8D3A-B031-6F43-B60D-BD57332102F4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927829" cy="3689405"/>
        <a:chOff x="0" y="0"/>
        <a:chExt cx="10927829" cy="3689405"/>
      </a:xfrm>
    </dsp:grpSpPr>
    <dsp:sp modelId="{134AA4AE-2DFE-1546-BBD4-F044F93166AF}">
      <dsp:nvSpPr>
        <dsp:cNvPr id="3" name="Rounded Rectangle 2"/>
        <dsp:cNvSpPr/>
      </dsp:nvSpPr>
      <dsp:spPr bwMode="white">
        <a:xfrm>
          <a:off x="0" y="0"/>
          <a:ext cx="9288655" cy="166023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9539" tIns="129539" rIns="129539" bIns="129539" anchor="ctr"/>
        <a:lstStyle>
          <a:lvl1pPr algn="l">
            <a:defRPr sz="34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dirty="0"/>
            <a:t>Learning Outcome 1: Identify various mobile platforms.</a:t>
          </a:r>
          <a:endParaRPr lang="en-US" dirty="0"/>
        </a:p>
      </dsp:txBody>
      <dsp:txXfrm>
        <a:off x="0" y="0"/>
        <a:ext cx="9288655" cy="1660232"/>
      </dsp:txXfrm>
    </dsp:sp>
    <dsp:sp modelId="{23089670-C5B7-BD45-B842-57A61267D14C}">
      <dsp:nvSpPr>
        <dsp:cNvPr id="4" name="Rounded Rectangle 3"/>
        <dsp:cNvSpPr/>
      </dsp:nvSpPr>
      <dsp:spPr bwMode="white">
        <a:xfrm>
          <a:off x="1639174" y="2029173"/>
          <a:ext cx="9288655" cy="166023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hueOff val="6480000"/>
            <a:satOff val="-18430"/>
            <a:lumOff val="-2980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9539" tIns="129539" rIns="129539" bIns="129539" anchor="ctr"/>
        <a:lstStyle>
          <a:lvl1pPr algn="l">
            <a:defRPr sz="3400"/>
          </a:lvl1pPr>
          <a:lvl2pPr marL="228600" indent="-228600" algn="l">
            <a:defRPr sz="2600"/>
          </a:lvl2pPr>
          <a:lvl3pPr marL="457200" indent="-228600" algn="l">
            <a:defRPr sz="2600"/>
          </a:lvl3pPr>
          <a:lvl4pPr marL="685800" indent="-228600" algn="l">
            <a:defRPr sz="2600"/>
          </a:lvl4pPr>
          <a:lvl5pPr marL="914400" indent="-228600" algn="l">
            <a:defRPr sz="2600"/>
          </a:lvl5pPr>
          <a:lvl6pPr marL="1143000" indent="-228600" algn="l">
            <a:defRPr sz="2600"/>
          </a:lvl6pPr>
          <a:lvl7pPr marL="1371600" indent="-228600" algn="l">
            <a:defRPr sz="2600"/>
          </a:lvl7pPr>
          <a:lvl8pPr marL="1600200" indent="-228600" algn="l">
            <a:defRPr sz="2600"/>
          </a:lvl8pPr>
          <a:lvl9pPr marL="1828800" indent="-228600" algn="l">
            <a:defRPr sz="2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dirty="0"/>
            <a:t>Learning Outcome 2: Distinguish among various mobile platforms.</a:t>
          </a:r>
          <a:endParaRPr lang="en-GB" dirty="0"/>
        </a:p>
      </dsp:txBody>
      <dsp:txXfrm>
        <a:off x="1639174" y="2029173"/>
        <a:ext cx="9288655" cy="1660232"/>
      </dsp:txXfrm>
    </dsp:sp>
    <dsp:sp modelId="{CE0E4259-F875-EB42-9078-3CA74E1F6D7F}">
      <dsp:nvSpPr>
        <dsp:cNvPr id="5" name="Down Arrow 4"/>
        <dsp:cNvSpPr/>
      </dsp:nvSpPr>
      <dsp:spPr bwMode="white">
        <a:xfrm>
          <a:off x="8209504" y="1305127"/>
          <a:ext cx="1079151" cy="1079151"/>
        </a:xfrm>
        <a:prstGeom prst="downArrow">
          <a:avLst>
            <a:gd name="adj1" fmla="val 55000"/>
            <a:gd name="adj2" fmla="val 45000"/>
          </a:avLst>
        </a:prstGeom>
      </dsp:spPr>
      <dsp:style>
        <a:lnRef idx="2">
          <a:schemeClr val="accent2">
            <a:tint val="40000"/>
            <a:alpha val="90000"/>
          </a:schemeClr>
        </a:lnRef>
        <a:fillRef idx="1">
          <a:schemeClr val="accent2">
            <a:tint val="40000"/>
            <a:alpha val="90000"/>
          </a:schemeClr>
        </a:fillRef>
        <a:effectRef idx="0">
          <a:scrgbClr r="0" g="0" b="0"/>
        </a:effectRef>
        <a:fontRef idx="minor"/>
      </dsp:style>
      <dsp:txBody>
        <a:bodyPr lIns="54610" tIns="54610" rIns="54610" bIns="54610" anchor="ctr"/>
        <a:lstStyle>
          <a:lvl1pPr algn="ctr">
            <a:defRPr sz="43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1"/>
            </a:solidFill>
          </a:endParaRPr>
        </a:p>
      </dsp:txBody>
      <dsp:txXfrm>
        <a:off x="8209504" y="1305127"/>
        <a:ext cx="1079151" cy="10791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900512" cy="5536141"/>
        <a:chOff x="0" y="0"/>
        <a:chExt cx="6900512" cy="5536141"/>
      </a:xfrm>
    </dsp:grpSpPr>
    <dsp:sp modelId="{6FF76B5C-2320-4CB5-9844-D984662B1716}">
      <dsp:nvSpPr>
        <dsp:cNvPr id="3" name="Straight Connector 2"/>
        <dsp:cNvSpPr/>
      </dsp:nvSpPr>
      <dsp:spPr bwMode="white">
        <a:xfrm>
          <a:off x="0" y="0"/>
          <a:ext cx="6900512" cy="0"/>
        </a:xfrm>
        <a:prstGeom prst="line">
          <a:avLst/>
        </a:prstGeom>
      </dsp:spPr>
      <dsp:style>
        <a:lnRef idx="2">
          <a:schemeClr val="accent2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0" y="0"/>
        <a:ext cx="6900512" cy="0"/>
      </dsp:txXfrm>
    </dsp:sp>
    <dsp:sp modelId="{CBF4003A-096B-4C8D-8E4F-9D9EAB681D72}">
      <dsp:nvSpPr>
        <dsp:cNvPr id="4" name="Rectangles 3"/>
        <dsp:cNvSpPr/>
      </dsp:nvSpPr>
      <dsp:spPr bwMode="white">
        <a:xfrm>
          <a:off x="0" y="0"/>
          <a:ext cx="6900512" cy="276807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09550" tIns="209550" rIns="209550" bIns="209550" anchor="t"/>
        <a:lstStyle>
          <a:lvl1pPr algn="l">
            <a:defRPr sz="55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dirty="0">
              <a:solidFill>
                <a:schemeClr val="tx1"/>
              </a:solidFill>
            </a:rPr>
            <a:t>1. Identify various mobile platforms.</a:t>
          </a:r>
          <a:endParaRPr>
            <a:solidFill>
              <a:schemeClr val="tx1"/>
            </a:solidFill>
          </a:endParaRPr>
        </a:p>
      </dsp:txBody>
      <dsp:txXfrm>
        <a:off x="0" y="0"/>
        <a:ext cx="6900512" cy="2768070"/>
      </dsp:txXfrm>
    </dsp:sp>
    <dsp:sp modelId="{F83A5B86-9D43-4C81-A6D4-87875817B689}">
      <dsp:nvSpPr>
        <dsp:cNvPr id="5" name="Straight Connector 4"/>
        <dsp:cNvSpPr/>
      </dsp:nvSpPr>
      <dsp:spPr bwMode="white">
        <a:xfrm>
          <a:off x="0" y="2768070"/>
          <a:ext cx="6900512" cy="0"/>
        </a:xfrm>
        <a:prstGeom prst="line">
          <a:avLst/>
        </a:prstGeom>
      </dsp:spPr>
      <dsp:style>
        <a:lnRef idx="2">
          <a:schemeClr val="accent3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Xfrm>
        <a:off x="0" y="2768070"/>
        <a:ext cx="6900512" cy="0"/>
      </dsp:txXfrm>
    </dsp:sp>
    <dsp:sp modelId="{7BF0A7F7-0F37-4B11-9AED-B46FE7E128D8}">
      <dsp:nvSpPr>
        <dsp:cNvPr id="6" name="Rectangles 5"/>
        <dsp:cNvSpPr/>
      </dsp:nvSpPr>
      <dsp:spPr bwMode="white">
        <a:xfrm>
          <a:off x="0" y="2768070"/>
          <a:ext cx="6900512" cy="276807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209550" tIns="209550" rIns="209550" bIns="209550" anchor="t"/>
        <a:lstStyle>
          <a:lvl1pPr algn="l">
            <a:defRPr sz="5500"/>
          </a:lvl1pPr>
          <a:lvl2pPr marL="285750" indent="-285750" algn="l">
            <a:defRPr sz="4200"/>
          </a:lvl2pPr>
          <a:lvl3pPr marL="571500" indent="-285750" algn="l">
            <a:defRPr sz="4200"/>
          </a:lvl3pPr>
          <a:lvl4pPr marL="857250" indent="-285750" algn="l">
            <a:defRPr sz="4200"/>
          </a:lvl4pPr>
          <a:lvl5pPr marL="1143000" indent="-285750" algn="l">
            <a:defRPr sz="4200"/>
          </a:lvl5pPr>
          <a:lvl6pPr marL="1428750" indent="-285750" algn="l">
            <a:defRPr sz="4200"/>
          </a:lvl6pPr>
          <a:lvl7pPr marL="1714500" indent="-285750" algn="l">
            <a:defRPr sz="4200"/>
          </a:lvl7pPr>
          <a:lvl8pPr marL="2000250" indent="-285750" algn="l">
            <a:defRPr sz="4200"/>
          </a:lvl8pPr>
          <a:lvl9pPr marL="2286000" indent="-285750" algn="l">
            <a:defRPr sz="4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dirty="0">
              <a:solidFill>
                <a:schemeClr val="tx1"/>
              </a:solidFill>
            </a:rPr>
            <a:t>2 Distinguish among the mobile platforms.</a:t>
          </a:r>
          <a:endParaRPr lang="en-US" dirty="0">
            <a:solidFill>
              <a:schemeClr val="tx1"/>
            </a:solidFill>
          </a:endParaRPr>
        </a:p>
      </dsp:txBody>
      <dsp:txXfrm>
        <a:off x="0" y="2768070"/>
        <a:ext cx="6900512" cy="27680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927829" cy="3689405"/>
        <a:chOff x="0" y="0"/>
        <a:chExt cx="10927829" cy="3689405"/>
      </a:xfrm>
    </dsp:grpSpPr>
    <dsp:sp modelId="{AF05AAA0-BC1F-4A4E-BCBA-8F2B90B89590}">
      <dsp:nvSpPr>
        <dsp:cNvPr id="3" name="Rounded Rectangle 2"/>
        <dsp:cNvSpPr/>
      </dsp:nvSpPr>
      <dsp:spPr bwMode="white">
        <a:xfrm>
          <a:off x="0" y="0"/>
          <a:ext cx="9288655" cy="166023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37160" tIns="137160" rIns="137160" bIns="13716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3600" dirty="0">
              <a:latin typeface="Times New Roman" panose="02020603050405020304" pitchFamily="18" charset="0"/>
              <a:cs typeface="Times New Roman" panose="02020603050405020304" pitchFamily="18" charset="0"/>
            </a:rPr>
            <a:t>Outcome 1: Students can identify various mobile platforms</a:t>
          </a:r>
          <a:r>
            <a:rPr lang="en-IN" sz="3600" dirty="0"/>
            <a:t>.</a:t>
          </a:r>
          <a:endParaRPr lang="en-US" sz="3600" dirty="0"/>
        </a:p>
      </dsp:txBody>
      <dsp:txXfrm>
        <a:off x="0" y="0"/>
        <a:ext cx="9288655" cy="1660232"/>
      </dsp:txXfrm>
    </dsp:sp>
    <dsp:sp modelId="{92733FB4-22C0-DC47-B2EA-EA161CCBE328}">
      <dsp:nvSpPr>
        <dsp:cNvPr id="4" name="Rounded Rectangle 3"/>
        <dsp:cNvSpPr/>
      </dsp:nvSpPr>
      <dsp:spPr bwMode="white">
        <a:xfrm>
          <a:off x="1639174" y="2029173"/>
          <a:ext cx="9288655" cy="1660232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>
            <a:hueOff val="6480000"/>
            <a:satOff val="-18430"/>
            <a:lumOff val="-29803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121920" tIns="121920" rIns="121920" bIns="121920" anchor="ctr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3200" dirty="0">
              <a:latin typeface="Times New Roman" panose="02020603050405020304" pitchFamily="18" charset="0"/>
              <a:cs typeface="Times New Roman" panose="02020603050405020304" pitchFamily="18" charset="0"/>
            </a:rPr>
            <a:t>Outcome 2: Students can distinguish various mobile platforms.</a:t>
          </a:r>
          <a:endParaRPr lang="en-US" sz="3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39174" y="2029173"/>
        <a:ext cx="9288655" cy="1660232"/>
      </dsp:txXfrm>
    </dsp:sp>
    <dsp:sp modelId="{950656C3-E01E-5647-96E4-C269D970F4B9}">
      <dsp:nvSpPr>
        <dsp:cNvPr id="5" name="Down Arrow 4"/>
        <dsp:cNvSpPr/>
      </dsp:nvSpPr>
      <dsp:spPr bwMode="white">
        <a:xfrm>
          <a:off x="8209504" y="1305127"/>
          <a:ext cx="1079151" cy="1079151"/>
        </a:xfrm>
        <a:prstGeom prst="downArrow">
          <a:avLst>
            <a:gd name="adj1" fmla="val 55000"/>
            <a:gd name="adj2" fmla="val 45000"/>
          </a:avLst>
        </a:prstGeom>
      </dsp:spPr>
      <dsp:style>
        <a:lnRef idx="2">
          <a:schemeClr val="accent2">
            <a:tint val="40000"/>
            <a:alpha val="90000"/>
          </a:schemeClr>
        </a:lnRef>
        <a:fillRef idx="1">
          <a:schemeClr val="accent2">
            <a:tint val="40000"/>
            <a:alpha val="90000"/>
          </a:schemeClr>
        </a:fillRef>
        <a:effectRef idx="0">
          <a:scrgbClr r="0" g="0" b="0"/>
        </a:effectRef>
        <a:fontRef idx="minor"/>
      </dsp:style>
      <dsp:txBody>
        <a:bodyPr lIns="54610" tIns="54610" rIns="54610" bIns="54610" anchor="ctr"/>
        <a:lstStyle>
          <a:lvl1pPr algn="ctr">
            <a:defRPr sz="4300"/>
          </a:lvl1pPr>
          <a:lvl2pPr marL="285750" indent="-285750" algn="ctr">
            <a:defRPr sz="3400"/>
          </a:lvl2pPr>
          <a:lvl3pPr marL="571500" indent="-285750" algn="ctr">
            <a:defRPr sz="3400"/>
          </a:lvl3pPr>
          <a:lvl4pPr marL="857250" indent="-285750" algn="ctr">
            <a:defRPr sz="3400"/>
          </a:lvl4pPr>
          <a:lvl5pPr marL="1143000" indent="-285750" algn="ctr">
            <a:defRPr sz="3400"/>
          </a:lvl5pPr>
          <a:lvl6pPr marL="1428750" indent="-285750" algn="ctr">
            <a:defRPr sz="3400"/>
          </a:lvl6pPr>
          <a:lvl7pPr marL="1714500" indent="-285750" algn="ctr">
            <a:defRPr sz="3400"/>
          </a:lvl7pPr>
          <a:lvl8pPr marL="2000250" indent="-285750" algn="ctr">
            <a:defRPr sz="3400"/>
          </a:lvl8pPr>
          <a:lvl9pPr marL="2286000" indent="-285750" algn="ctr">
            <a:defRPr sz="3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>
            <a:solidFill>
              <a:schemeClr val="dk1"/>
            </a:solidFill>
          </a:endParaRPr>
        </a:p>
      </dsp:txBody>
      <dsp:txXfrm>
        <a:off x="8209504" y="1305127"/>
        <a:ext cx="1079151" cy="10791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6" Type="http://schemas.openxmlformats.org/officeDocument/2006/relationships/image" Target="../media/image2.jpe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6" Type="http://schemas.openxmlformats.org/officeDocument/2006/relationships/image" Target="../media/image2.jpeg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jpe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8.jpe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.png"/><Relationship Id="rId6" Type="http://schemas.openxmlformats.org/officeDocument/2006/relationships/image" Target="../media/image2.jpeg"/><Relationship Id="rId5" Type="http://schemas.microsoft.com/office/2007/relationships/diagramDrawing" Target="../diagrams/drawing3.xml"/><Relationship Id="rId4" Type="http://schemas.openxmlformats.org/officeDocument/2006/relationships/diagramColors" Target="../diagrams/colors3.xml"/><Relationship Id="rId3" Type="http://schemas.openxmlformats.org/officeDocument/2006/relationships/diagramQuickStyle" Target="../diagrams/quickStyle3.xml"/><Relationship Id="rId2" Type="http://schemas.openxmlformats.org/officeDocument/2006/relationships/diagramLayout" Target="../diagrams/layout3.xml"/><Relationship Id="rId1" Type="http://schemas.openxmlformats.org/officeDocument/2006/relationships/diagramData" Target="../diagrams/data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/>
          <p:cNvPicPr>
            <a:picLocks noChangeAspect="1"/>
          </p:cNvPicPr>
          <p:nvPr/>
        </p:nvPicPr>
        <p:blipFill>
          <a:blip r:embed="rId1"/>
          <a:srcRect l="5200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IN" sz="66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Comparing Android with other Platforms</a:t>
            </a: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5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Mobile Application Development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R1UC631B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</a:t>
            </a:r>
            <a:r>
              <a:rPr lang="en-IN" sz="18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Mr.P.Uppiliraja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pic>
        <p:nvPicPr>
          <p:cNvPr id="10" name="Picture 9" descr="A blue circle with text and words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3015084" cy="8335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Reflect on the responses of post session activity</a:t>
            </a: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pic>
        <p:nvPicPr>
          <p:cNvPr id="5" name="Picture 4" descr="A blue circle with text and words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526" y="1296240"/>
            <a:ext cx="7975474" cy="426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Magnifying glass on clear background"/>
          <p:cNvPicPr>
            <a:picLocks noChangeAspect="1"/>
          </p:cNvPicPr>
          <p:nvPr/>
        </p:nvPicPr>
        <p:blipFill>
          <a:blip r:embed="rId1"/>
          <a:srcRect l="8345" r="7282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759" y="1935732"/>
            <a:ext cx="10364807" cy="353637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factors do you think for success or failure of any product(OS)?</a:t>
            </a:r>
            <a:endParaRPr lang="en-US" sz="3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</p:spPr>
        <p:txBody>
          <a:bodyPr anchor="ctr">
            <a:normAutofit fontScale="90000"/>
          </a:bodyPr>
          <a:lstStyle/>
          <a:p>
            <a:r>
              <a:rPr lang="en-IN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the end of this session students will be able to </a:t>
            </a:r>
            <a:endParaRPr lang="en-IN"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itle 1"/>
          <p:cNvGraphicFramePr/>
          <p:nvPr/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Session Outline</a:t>
            </a:r>
            <a:endParaRPr lang="en-IN" sz="5400" dirty="0"/>
          </a:p>
        </p:txBody>
      </p:sp>
      <p:sp>
        <p:nvSpPr>
          <p:cNvPr id="11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0112" y="3072984"/>
            <a:ext cx="4800261" cy="1982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Concept and Definition for </a:t>
            </a:r>
            <a:br>
              <a:rPr lang="en-US" sz="4000" b="1" dirty="0">
                <a:solidFill>
                  <a:schemeClr val="tx2"/>
                </a:solidFill>
              </a:rPr>
            </a:br>
            <a:r>
              <a:rPr lang="en-US" sz="4000" b="1" dirty="0">
                <a:solidFill>
                  <a:schemeClr val="tx2"/>
                </a:solidFill>
              </a:rPr>
              <a:t>Learning Activity 1</a:t>
            </a:r>
            <a:endParaRPr lang="en-US" sz="4000" b="1" dirty="0">
              <a:solidFill>
                <a:schemeClr val="tx2"/>
              </a:solidFill>
            </a:endParaRPr>
          </a:p>
        </p:txBody>
      </p:sp>
      <p:pic>
        <p:nvPicPr>
          <p:cNvPr id="4" name="Picture 3" descr="3D numbers in white and orange"/>
          <p:cNvPicPr>
            <a:picLocks noChangeAspect="1"/>
          </p:cNvPicPr>
          <p:nvPr/>
        </p:nvPicPr>
        <p:blipFill>
          <a:blip r:embed="rId1"/>
          <a:srcRect l="23514" r="23803"/>
          <a:stretch>
            <a:fillRect/>
          </a:stretch>
        </p:blipFill>
        <p:spPr>
          <a:xfrm>
            <a:off x="-305" y="1"/>
            <a:ext cx="6423053" cy="6858000"/>
          </a:xfrm>
          <a:prstGeom prst="rect">
            <a:avLst/>
          </a:prstGeom>
        </p:spPr>
      </p:pic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23896"/>
            <a:ext cx="2215421" cy="6124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Mobiles &amp; Mobile OS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67468" y="1761331"/>
            <a:ext cx="1790246" cy="2530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51225" y="1761331"/>
            <a:ext cx="1174750" cy="196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 descr="Picture 2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19486" y="1690688"/>
            <a:ext cx="1177925" cy="226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4"/>
          <a:srcRect l="43257" t="37628" r="47499" b="41060"/>
          <a:stretch>
            <a:fillRect/>
          </a:stretch>
        </p:blipFill>
        <p:spPr bwMode="auto">
          <a:xfrm>
            <a:off x="7131957" y="1817686"/>
            <a:ext cx="1003300" cy="185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8" descr="Picture 3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826735" y="2290762"/>
            <a:ext cx="2834790" cy="1138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Integrations - iOS | Sectigo® Official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486" y="4266125"/>
            <a:ext cx="2848793" cy="144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ndroid App Distribution Agreements Do ...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140" y="4378327"/>
            <a:ext cx="2583939" cy="144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icrosoft Windows Operating System at ...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261" y="4326846"/>
            <a:ext cx="3895739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Berry OS devices to stop working ...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86" y="4204291"/>
            <a:ext cx="2046061" cy="153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78040"/>
            <a:ext cx="10657114" cy="1463675"/>
          </a:xfrm>
        </p:spPr>
        <p:txBody>
          <a:bodyPr>
            <a:normAutofit/>
          </a:bodyPr>
          <a:lstStyle/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share of mobile operating systems worldwide from 2009 to 2024, by quarter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9" t="5753" b="2337"/>
          <a:stretch>
            <a:fillRect/>
          </a:stretch>
        </p:blipFill>
        <p:spPr>
          <a:xfrm>
            <a:off x="990601" y="1566317"/>
            <a:ext cx="10112828" cy="47900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702" y="721583"/>
            <a:ext cx="4646904" cy="1024649"/>
          </a:xfrm>
        </p:spPr>
        <p:txBody>
          <a:bodyPr anchor="ctr">
            <a:normAutofit fontScale="90000"/>
          </a:bodyPr>
          <a:lstStyle/>
          <a:p>
            <a:r>
              <a:rPr lang="en-IN" sz="4000" dirty="0">
                <a:latin typeface="Georgia" panose="02040502050405020303" pitchFamily="18" charset="0"/>
              </a:rPr>
              <a:t>Learning Activity 1: Think-Pair-Share</a:t>
            </a:r>
            <a:endParaRPr lang="en-IN" sz="40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059" y="2023238"/>
            <a:ext cx="4876997" cy="4698237"/>
          </a:xfrm>
        </p:spPr>
        <p:txBody>
          <a:bodyPr anchor="ctr">
            <a:noAutofit/>
          </a:bodyPr>
          <a:lstStyle/>
          <a:p>
            <a:pPr marL="0" lvl="0" indent="0">
              <a:lnSpc>
                <a:spcPct val="100000"/>
              </a:lnSpc>
              <a:buSzPts val="1000"/>
              <a:buNone/>
              <a:tabLst>
                <a:tab pos="228600" algn="l"/>
              </a:tabLst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Think (2mins)</a:t>
            </a:r>
            <a:endParaRPr lang="en-IN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SzPts val="1000"/>
              <a:buFont typeface="Symbol" panose="05050102010706020507" pitchFamily="2" charset="2"/>
              <a:buChar char=""/>
              <a:tabLst>
                <a:tab pos="228600" algn="l"/>
              </a:tabLst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Individually, students analyze a market share graph or dataset showcasing mobile OS trends from 2009 to 2024.  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SzPts val="1000"/>
              <a:buFont typeface="Symbol" panose="05050102010706020507" pitchFamily="2" charset="2"/>
              <a:buChar char=""/>
              <a:tabLst>
                <a:tab pos="228600" algn="l"/>
              </a:tabLst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Each student identifies key insights, such as:  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"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OS experienced the most growth?  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"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Which OS declined or disappeared over time?  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external factors such as technological advancements, competition, or user preferences influenced these trends? 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Pair (5 minutes) 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SzPts val="1000"/>
              <a:buFont typeface="Symbol" panose="05050102010706020507" pitchFamily="2" charset="2"/>
              <a:buChar char=""/>
              <a:tabLst>
                <a:tab pos="228600" algn="l"/>
              </a:tabLst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 pair up to compare observations and discuss:  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"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factors contributed to Android and iOS dominating the market?  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strategic or technical failures led to the decline of BlackBerry, Symbian, and Windows Phone?  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Share (5 minutes)</a:t>
            </a:r>
            <a:endParaRPr lang="en-IN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2" charset="2"/>
              <a:buChar char=""/>
              <a:tabLst>
                <a:tab pos="228600" algn="l"/>
              </a:tabLst>
            </a:pPr>
            <a:r>
              <a:rPr lang="en-I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Pairs join a larger class discussion to present their insights.  </a:t>
            </a: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"/>
            </a:pPr>
            <a:endParaRPr lang="en-IN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Top view of a wooden puzzle"/>
          <p:cNvPicPr>
            <a:picLocks noChangeAspect="1"/>
          </p:cNvPicPr>
          <p:nvPr/>
        </p:nvPicPr>
        <p:blipFill>
          <a:blip r:embed="rId1"/>
          <a:srcRect l="39816" r="783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pic>
        <p:nvPicPr>
          <p:cNvPr id="10" name="Picture 9" descr="A blue circle with text and words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450" y="2136526"/>
            <a:ext cx="5316757" cy="18182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502228" y="1359353"/>
          <a:ext cx="9187544" cy="4169160"/>
        </p:xfrm>
        <a:graphic>
          <a:graphicData uri="http://schemas.openxmlformats.org/drawingml/2006/table">
            <a:tbl>
              <a:tblPr firstRow="1" firstCol="1" bandRow="1">
                <a:tableStyleId>{17292A2E-F333-43FB-9621-5CBBE7FDCDCB}</a:tableStyleId>
              </a:tblPr>
              <a:tblGrid>
                <a:gridCol w="2296886"/>
                <a:gridCol w="2296886"/>
                <a:gridCol w="2296886"/>
                <a:gridCol w="2296886"/>
              </a:tblGrid>
              <a:tr h="416916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OS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Q1 2009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Q4 2024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Expected 2025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16916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Android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1.69%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72.04%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71.72%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16916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iOS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37.45%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27.49%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27.81%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16916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Samsung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0.31%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0.29%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16916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Windows Phone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2.3%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0.01%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0.01%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16916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Symbian OS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36.94%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16916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Series 40 (Nokia)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16916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BlackBerry OS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4.37%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16916"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KaiOS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0.03%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0.03%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416916"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Unknown / Other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17.25%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</a:rPr>
                        <a:t>0.01%</a:t>
                      </a:r>
                      <a:endParaRPr lang="en-IN" sz="1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</a:rPr>
                        <a:t>0.11%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364343" y="537029"/>
            <a:ext cx="13805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64343" y="5604975"/>
            <a:ext cx="9550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solidFill>
                  <a:schemeClr val="accent1">
                    <a:lumMod val="75000"/>
                  </a:schemeClr>
                </a:solidFill>
                <a:effectLst/>
                <a:latin typeface="Helvetica" pitchFamily="2" charset="0"/>
              </a:rPr>
              <a:t>Android has a larger global market share compared to iOS, making it the most popular mobile operating system worldwide.</a:t>
            </a:r>
            <a:endParaRPr lang="en-IN" dirty="0">
              <a:solidFill>
                <a:schemeClr val="accent1">
                  <a:lumMod val="75000"/>
                </a:schemeClr>
              </a:solidFill>
              <a:effectLst/>
              <a:latin typeface="Helvetica" pitchFamily="2" charset="0"/>
            </a:endParaRP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6867" y="424110"/>
            <a:ext cx="4646904" cy="1024649"/>
          </a:xfrm>
        </p:spPr>
        <p:txBody>
          <a:bodyPr anchor="ctr">
            <a:normAutofit fontScale="90000"/>
          </a:bodyPr>
          <a:lstStyle/>
          <a:p>
            <a:r>
              <a:rPr lang="en-IN" sz="4000" dirty="0">
                <a:latin typeface="Georgia" panose="02040502050405020303" pitchFamily="18" charset="0"/>
              </a:rPr>
              <a:t>Learning Activity 2: Jigsaw</a:t>
            </a:r>
            <a:endParaRPr lang="en-IN" sz="4000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1448759"/>
            <a:ext cx="9996763" cy="4907591"/>
          </a:xfrm>
        </p:spPr>
        <p:txBody>
          <a:bodyPr numCol="2" anchor="ctr">
            <a:no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1: Android  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2: iOS  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3: Samsung OS (Tizen)  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4: Windows Phone  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5: Symbian OS  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6: Series 40 (Nokia)  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7: BlackBerry OS  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8: KaiOS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9: Android</a:t>
            </a:r>
            <a:endParaRPr lang="en-IN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student from each group move into Expert Groups where everyone has the same assigned topic. Each expert group researches and discusses. Return to Home Groups &amp; Teach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pic>
        <p:nvPicPr>
          <p:cNvPr id="10" name="Picture 9" descr="A blue circle with text and words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7582" y="1837666"/>
            <a:ext cx="10515600" cy="1325563"/>
          </a:xfrm>
        </p:spPr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among various mobile platforms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482598" y="136525"/>
          <a:ext cx="10871199" cy="6521154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207911"/>
                <a:gridCol w="1207911"/>
                <a:gridCol w="1207911"/>
                <a:gridCol w="1207911"/>
                <a:gridCol w="1207911"/>
                <a:gridCol w="1207911"/>
                <a:gridCol w="1207911"/>
                <a:gridCol w="1207911"/>
                <a:gridCol w="1207911"/>
              </a:tblGrid>
              <a:tr h="410437"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Feature/Aspect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Samsung OS (Tizen)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Phone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Symbian OS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Series 40 (Nokia)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BlackBerry OS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KaiOS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477089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Years Active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2008 - Present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2007 - Present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2012 - Present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2010 - 2019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1997 - 2014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1999 - 2014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1999 - 2016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2017 - Present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527070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Developer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Samsung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Nokia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Nokia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BlackBerry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KaiOS Technologies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96864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Java, Kotlin, Dart (Flutter), C++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Swift, Objective-C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C, C++, HTML5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C#, XAML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C++, Symbian C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 (J2ME)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Java, C++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HTML5, JavaScript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96864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 Store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Google Play Store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 App Store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Tizen Store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Store (discontinued)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Nokia Ovi Store (discontinued)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Nokia Store (discontinued)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BlackBerry World (discontinued)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KaiOS Store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527070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 Share (2025)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71.72%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27.81%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1545834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 Distribution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Open-source, flexible, multiple stores (Google Play, Amazon, etc.)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Closed ecosystem, strictly controlled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Limited, Samsung’s own store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Discontinued, limited third-party sources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Discontinued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Discontinued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Discontinued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Limited, focused on feature phones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527070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Frameworks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Jetpack Compose, XML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SwiftUI, UIKit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HTML5, Tizen .NET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XAML, WinUI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Symbian UI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Series 40 UI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Cascades, Java-based UI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HTML5, KaiUI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1036452">
                <a:tc>
                  <a:txBody>
                    <a:bodyPr/>
                    <a:lstStyle/>
                    <a:p>
                      <a:r>
                        <a:rPr lang="en-IN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Model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Open-source, sandboxed apps, Google Play Protect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Strict sandboxing, encrypted app installs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Secure, but limited app review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but outdated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Legacy, weak security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security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security features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Lightweight, basic security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31372" y="391886"/>
          <a:ext cx="10722429" cy="5964462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191381"/>
                <a:gridCol w="1191381"/>
                <a:gridCol w="1191381"/>
                <a:gridCol w="1191381"/>
                <a:gridCol w="1191381"/>
                <a:gridCol w="1191381"/>
                <a:gridCol w="1191381"/>
                <a:gridCol w="1191381"/>
                <a:gridCol w="1191381"/>
              </a:tblGrid>
              <a:tr h="433701"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</a:rPr>
                        <a:t>Feature/Aspect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</a:rPr>
                        <a:t>Android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</a:rPr>
                        <a:t>iOS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</a:rPr>
                        <a:t>Samsung OS (Tizen)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</a:rPr>
                        <a:t>Windows Phone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</a:rPr>
                        <a:t>Symbian OS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</a:rPr>
                        <a:t>Series 40 (Nokia)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</a:rPr>
                        <a:t>BlackBerry OS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 err="1">
                          <a:effectLst/>
                        </a:rPr>
                        <a:t>KaiOS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433701">
                <a:tc>
                  <a:txBody>
                    <a:bodyPr/>
                    <a:lstStyle/>
                    <a:p>
                      <a:r>
                        <a:rPr lang="en-IN" sz="1200" b="1">
                          <a:effectLst/>
                        </a:rPr>
                        <a:t>Customizability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effectLst/>
                        </a:rPr>
                        <a:t>High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Low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Medium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Low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Medium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Low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Medium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Low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433701">
                <a:tc>
                  <a:txBody>
                    <a:bodyPr/>
                    <a:lstStyle/>
                    <a:p>
                      <a:r>
                        <a:rPr lang="en-IN" sz="1200" b="1">
                          <a:effectLst/>
                        </a:rPr>
                        <a:t>Multitasking Support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Yes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Yes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Yes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Yes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Limited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Yes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Limited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1052047"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</a:rPr>
                        <a:t>Target Devices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Smartphones, Tablets, Wearables, TV, IoT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iPhones, iPads, Mac integration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Samsung Smartwatches, TVs, IoT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Discontinued phones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Old Nokia phones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Feature phones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Enterprise and security-focused phones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Feature phones, low-end devices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433701">
                <a:tc>
                  <a:txBody>
                    <a:bodyPr/>
                    <a:lstStyle/>
                    <a:p>
                      <a:r>
                        <a:rPr lang="en-IN" sz="1200" b="1">
                          <a:effectLst/>
                        </a:rPr>
                        <a:t>Open Source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Yes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Partially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Partially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845932"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</a:rPr>
                        <a:t>Performance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High (varies by manufacturer)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effectLst/>
                        </a:rPr>
                        <a:t>High (optimized for Apple devices)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Moderate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Moderate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Low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Low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Moderate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Low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1052047"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</a:rPr>
                        <a:t>App Monetization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Ads, in-app purchases, paid apps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Paid apps, in-app purchases, subscriptions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Limited revenue sources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Discontinued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Discontinued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Discontinued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Discontinued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Ads-based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39816"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</a:rPr>
                        <a:t>Voice Assistant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Google Assistant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Siri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Bixby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Cortana (Discontinued)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No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639816"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</a:rPr>
                        <a:t>Future Viability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Dominant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Strong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Niche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Dead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effectLst/>
                        </a:rPr>
                        <a:t>Dead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Dead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effectLst/>
                        </a:rPr>
                        <a:t>Dead</a:t>
                      </a:r>
                      <a:endParaRPr lang="en-IN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effectLst/>
                        </a:rPr>
                        <a:t>Niche (emerging markets)</a:t>
                      </a:r>
                      <a:endParaRPr lang="en-IN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884" y="758539"/>
            <a:ext cx="4800261" cy="16445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Reflection-</a:t>
            </a:r>
            <a:br>
              <a:rPr lang="en-US" sz="4000" b="1" dirty="0">
                <a:solidFill>
                  <a:schemeClr val="tx2"/>
                </a:solidFill>
              </a:rPr>
            </a:br>
            <a:r>
              <a:rPr lang="en-US" sz="4000" b="1" dirty="0">
                <a:solidFill>
                  <a:schemeClr val="tx2"/>
                </a:solidFill>
              </a:rPr>
              <a:t>Learning Activity 2</a:t>
            </a:r>
            <a:endParaRPr lang="en-US" sz="4000" b="1" dirty="0">
              <a:solidFill>
                <a:schemeClr val="tx2"/>
              </a:solidFill>
            </a:endParaRPr>
          </a:p>
        </p:txBody>
      </p:sp>
      <p:grpSp>
        <p:nvGrpSpPr>
          <p:cNvPr id="10" name="Group 9"/>
          <p:cNvGrpSpPr>
            <a:grpSpLocks noGrp="1" noRot="1" noChangeAspect="1" noMove="1" noResize="1" noUngrp="1"/>
          </p:cNvGrpSpPr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1" name="Freeform: Shape 10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>
                <a:gd name="connsiteX0" fmla="*/ 0 w 6018714"/>
                <a:gd name="connsiteY0" fmla="*/ 6499477 h 6858000"/>
                <a:gd name="connsiteX1" fmla="*/ 248639 w 6018714"/>
                <a:gd name="connsiteY1" fmla="*/ 6701197 h 6858000"/>
                <a:gd name="connsiteX2" fmla="*/ 392359 w 6018714"/>
                <a:gd name="connsiteY2" fmla="*/ 6814935 h 6858000"/>
                <a:gd name="connsiteX3" fmla="*/ 448656 w 6018714"/>
                <a:gd name="connsiteY3" fmla="*/ 6858000 h 6858000"/>
                <a:gd name="connsiteX4" fmla="*/ 0 w 6018714"/>
                <a:gd name="connsiteY4" fmla="*/ 6858000 h 6858000"/>
                <a:gd name="connsiteX5" fmla="*/ 998246 w 6018714"/>
                <a:gd name="connsiteY5" fmla="*/ 0 h 6858000"/>
                <a:gd name="connsiteX6" fmla="*/ 1984114 w 6018714"/>
                <a:gd name="connsiteY6" fmla="*/ 0 h 6858000"/>
                <a:gd name="connsiteX7" fmla="*/ 2011390 w 6018714"/>
                <a:gd name="connsiteY7" fmla="*/ 2333 h 6858000"/>
                <a:gd name="connsiteX8" fmla="*/ 4182319 w 6018714"/>
                <a:gd name="connsiteY8" fmla="*/ 838030 h 6858000"/>
                <a:gd name="connsiteX9" fmla="*/ 4785565 w 6018714"/>
                <a:gd name="connsiteY9" fmla="*/ 1338564 h 6858000"/>
                <a:gd name="connsiteX10" fmla="*/ 5695308 w 6018714"/>
                <a:gd name="connsiteY10" fmla="*/ 2616232 h 6858000"/>
                <a:gd name="connsiteX11" fmla="*/ 5937944 w 6018714"/>
                <a:gd name="connsiteY11" fmla="*/ 3368583 h 6858000"/>
                <a:gd name="connsiteX12" fmla="*/ 6018677 w 6018714"/>
                <a:gd name="connsiteY12" fmla="*/ 4153681 h 6858000"/>
                <a:gd name="connsiteX13" fmla="*/ 5990165 w 6018714"/>
                <a:gd name="connsiteY13" fmla="*/ 4557147 h 6858000"/>
                <a:gd name="connsiteX14" fmla="*/ 5982312 w 6018714"/>
                <a:gd name="connsiteY14" fmla="*/ 4607451 h 6858000"/>
                <a:gd name="connsiteX15" fmla="*/ 5972856 w 6018714"/>
                <a:gd name="connsiteY15" fmla="*/ 4657609 h 6858000"/>
                <a:gd name="connsiteX16" fmla="*/ 5951328 w 6018714"/>
                <a:gd name="connsiteY16" fmla="*/ 4757628 h 6858000"/>
                <a:gd name="connsiteX17" fmla="*/ 5893141 w 6018714"/>
                <a:gd name="connsiteY17" fmla="*/ 4953827 h 6858000"/>
                <a:gd name="connsiteX18" fmla="*/ 5817644 w 6018714"/>
                <a:gd name="connsiteY18" fmla="*/ 5141915 h 6858000"/>
                <a:gd name="connsiteX19" fmla="*/ 5728909 w 6018714"/>
                <a:gd name="connsiteY19" fmla="*/ 5322626 h 6858000"/>
                <a:gd name="connsiteX20" fmla="*/ 5532095 w 6018714"/>
                <a:gd name="connsiteY20" fmla="*/ 5663839 h 6858000"/>
                <a:gd name="connsiteX21" fmla="*/ 5330043 w 6018714"/>
                <a:gd name="connsiteY21" fmla="*/ 5988236 h 6858000"/>
                <a:gd name="connsiteX22" fmla="*/ 5232580 w 6018714"/>
                <a:gd name="connsiteY22" fmla="*/ 6146081 h 6858000"/>
                <a:gd name="connsiteX23" fmla="*/ 5183269 w 6018714"/>
                <a:gd name="connsiteY23" fmla="*/ 6227660 h 6858000"/>
                <a:gd name="connsiteX24" fmla="*/ 5131628 w 6018714"/>
                <a:gd name="connsiteY24" fmla="*/ 6311451 h 6858000"/>
                <a:gd name="connsiteX25" fmla="*/ 4910811 w 6018714"/>
                <a:gd name="connsiteY25" fmla="*/ 6641009 h 6858000"/>
                <a:gd name="connsiteX26" fmla="*/ 4788885 w 6018714"/>
                <a:gd name="connsiteY26" fmla="*/ 6800448 h 6858000"/>
                <a:gd name="connsiteX27" fmla="*/ 4739213 w 6018714"/>
                <a:gd name="connsiteY27" fmla="*/ 6858000 h 6858000"/>
                <a:gd name="connsiteX28" fmla="*/ 3950454 w 6018714"/>
                <a:gd name="connsiteY28" fmla="*/ 6858000 h 6858000"/>
                <a:gd name="connsiteX29" fmla="*/ 4012997 w 6018714"/>
                <a:gd name="connsiteY29" fmla="*/ 6806378 h 6858000"/>
                <a:gd name="connsiteX30" fmla="*/ 4268871 w 6018714"/>
                <a:gd name="connsiteY30" fmla="*/ 6566512 h 6858000"/>
                <a:gd name="connsiteX31" fmla="*/ 4750072 w 6018714"/>
                <a:gd name="connsiteY31" fmla="*/ 6033375 h 6858000"/>
                <a:gd name="connsiteX32" fmla="*/ 4806075 w 6018714"/>
                <a:gd name="connsiteY32" fmla="*/ 5961092 h 6858000"/>
                <a:gd name="connsiteX33" fmla="*/ 4863244 w 6018714"/>
                <a:gd name="connsiteY33" fmla="*/ 5885856 h 6858000"/>
                <a:gd name="connsiteX34" fmla="*/ 4982235 w 6018714"/>
                <a:gd name="connsiteY34" fmla="*/ 5732288 h 6858000"/>
                <a:gd name="connsiteX35" fmla="*/ 5221526 w 6018714"/>
                <a:gd name="connsiteY35" fmla="*/ 5438135 h 6858000"/>
                <a:gd name="connsiteX36" fmla="*/ 5442633 w 6018714"/>
                <a:gd name="connsiteY36" fmla="*/ 5146193 h 6858000"/>
                <a:gd name="connsiteX37" fmla="*/ 5538350 w 6018714"/>
                <a:gd name="connsiteY37" fmla="*/ 4995133 h 6858000"/>
                <a:gd name="connsiteX38" fmla="*/ 5621702 w 6018714"/>
                <a:gd name="connsiteY38" fmla="*/ 4839205 h 6858000"/>
                <a:gd name="connsiteX39" fmla="*/ 5741275 w 6018714"/>
                <a:gd name="connsiteY39" fmla="*/ 4507728 h 6858000"/>
                <a:gd name="connsiteX40" fmla="*/ 5781714 w 6018714"/>
                <a:gd name="connsiteY40" fmla="*/ 4153681 h 6858000"/>
                <a:gd name="connsiteX41" fmla="*/ 5685706 w 6018714"/>
                <a:gd name="connsiteY41" fmla="*/ 3428918 h 6858000"/>
                <a:gd name="connsiteX42" fmla="*/ 5422122 w 6018714"/>
                <a:gd name="connsiteY42" fmla="*/ 2750328 h 6858000"/>
                <a:gd name="connsiteX43" fmla="*/ 5033730 w 6018714"/>
                <a:gd name="connsiteY43" fmla="*/ 2136204 h 6858000"/>
                <a:gd name="connsiteX44" fmla="*/ 4542784 w 6018714"/>
                <a:gd name="connsiteY44" fmla="*/ 1601886 h 6858000"/>
                <a:gd name="connsiteX45" fmla="*/ 2668605 w 6018714"/>
                <a:gd name="connsiteY45" fmla="*/ 539746 h 6858000"/>
                <a:gd name="connsiteX46" fmla="*/ 1965570 w 6018714"/>
                <a:gd name="connsiteY46" fmla="*/ 389865 h 6858000"/>
                <a:gd name="connsiteX47" fmla="*/ 1249006 w 6018714"/>
                <a:gd name="connsiteY47" fmla="*/ 363461 h 6858000"/>
                <a:gd name="connsiteX48" fmla="*/ 542188 w 6018714"/>
                <a:gd name="connsiteY48" fmla="*/ 465544 h 6858000"/>
                <a:gd name="connsiteX49" fmla="*/ 37349 w 6018714"/>
                <a:gd name="connsiteY49" fmla="*/ 636266 h 6858000"/>
                <a:gd name="connsiteX50" fmla="*/ 0 w 6018714"/>
                <a:gd name="connsiteY50" fmla="*/ 653785 h 6858000"/>
                <a:gd name="connsiteX51" fmla="*/ 0 w 6018714"/>
                <a:gd name="connsiteY51" fmla="*/ 255198 h 6858000"/>
                <a:gd name="connsiteX52" fmla="*/ 167136 w 6018714"/>
                <a:gd name="connsiteY52" fmla="*/ 188295 h 6858000"/>
                <a:gd name="connsiteX53" fmla="*/ 451417 w 6018714"/>
                <a:gd name="connsiteY53" fmla="*/ 101466 h 6858000"/>
                <a:gd name="connsiteX54" fmla="*/ 836914 w 6018714"/>
                <a:gd name="connsiteY54" fmla="*/ 2139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6018714" h="685800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>
                <a:gd name="connsiteX0" fmla="*/ 0 w 6015920"/>
                <a:gd name="connsiteY0" fmla="*/ 6143989 h 6819166"/>
                <a:gd name="connsiteX1" fmla="*/ 134018 w 6015920"/>
                <a:gd name="connsiteY1" fmla="*/ 6248665 h 6819166"/>
                <a:gd name="connsiteX2" fmla="*/ 880799 w 6015920"/>
                <a:gd name="connsiteY2" fmla="*/ 6790482 h 6819166"/>
                <a:gd name="connsiteX3" fmla="*/ 929680 w 6015920"/>
                <a:gd name="connsiteY3" fmla="*/ 6819166 h 6819166"/>
                <a:gd name="connsiteX4" fmla="*/ 0 w 6015920"/>
                <a:gd name="connsiteY4" fmla="*/ 6819166 h 6819166"/>
                <a:gd name="connsiteX5" fmla="*/ 1408589 w 6015920"/>
                <a:gd name="connsiteY5" fmla="*/ 0 h 6819166"/>
                <a:gd name="connsiteX6" fmla="*/ 1409171 w 6015920"/>
                <a:gd name="connsiteY6" fmla="*/ 294 h 6819166"/>
                <a:gd name="connsiteX7" fmla="*/ 6015920 w 6015920"/>
                <a:gd name="connsiteY7" fmla="*/ 4129828 h 6819166"/>
                <a:gd name="connsiteX8" fmla="*/ 5101088 w 6015920"/>
                <a:gd name="connsiteY8" fmla="*/ 6096419 h 6819166"/>
                <a:gd name="connsiteX9" fmla="*/ 4546786 w 6015920"/>
                <a:gd name="connsiteY9" fmla="*/ 6797679 h 6819166"/>
                <a:gd name="connsiteX10" fmla="*/ 4525032 w 6015920"/>
                <a:gd name="connsiteY10" fmla="*/ 6819166 h 6819166"/>
                <a:gd name="connsiteX11" fmla="*/ 3362009 w 6015920"/>
                <a:gd name="connsiteY11" fmla="*/ 6819166 h 6819166"/>
                <a:gd name="connsiteX12" fmla="*/ 3559506 w 6015920"/>
                <a:gd name="connsiteY12" fmla="*/ 6694254 h 6819166"/>
                <a:gd name="connsiteX13" fmla="*/ 4499295 w 6015920"/>
                <a:gd name="connsiteY13" fmla="*/ 5685109 h 6819166"/>
                <a:gd name="connsiteX14" fmla="*/ 4763752 w 6015920"/>
                <a:gd name="connsiteY14" fmla="*/ 5310428 h 6819166"/>
                <a:gd name="connsiteX15" fmla="*/ 5288592 w 6015920"/>
                <a:gd name="connsiteY15" fmla="*/ 4129828 h 6819166"/>
                <a:gd name="connsiteX16" fmla="*/ 4971477 w 6015920"/>
                <a:gd name="connsiteY16" fmla="*/ 2858526 h 6819166"/>
                <a:gd name="connsiteX17" fmla="*/ 4096938 w 6015920"/>
                <a:gd name="connsiteY17" fmla="*/ 1766138 h 6819166"/>
                <a:gd name="connsiteX18" fmla="*/ 2832696 w 6015920"/>
                <a:gd name="connsiteY18" fmla="*/ 1008719 h 6819166"/>
                <a:gd name="connsiteX19" fmla="*/ 1409171 w 6015920"/>
                <a:gd name="connsiteY19" fmla="*/ 732948 h 6819166"/>
                <a:gd name="connsiteX20" fmla="*/ 189877 w 6015920"/>
                <a:gd name="connsiteY20" fmla="*/ 989377 h 6819166"/>
                <a:gd name="connsiteX21" fmla="*/ 0 w 6015920"/>
                <a:gd name="connsiteY21" fmla="*/ 1091881 h 6819166"/>
                <a:gd name="connsiteX22" fmla="*/ 0 w 6015920"/>
                <a:gd name="connsiteY22" fmla="*/ 273645 h 6819166"/>
                <a:gd name="connsiteX23" fmla="*/ 53152 w 6015920"/>
                <a:gd name="connsiteY23" fmla="*/ 250589 h 6819166"/>
                <a:gd name="connsiteX24" fmla="*/ 1408589 w 6015920"/>
                <a:gd name="connsiteY24" fmla="*/ 0 h 6819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15920" h="6819166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>
                <a:gd name="connsiteX0" fmla="*/ 0 w 5997097"/>
                <a:gd name="connsiteY0" fmla="*/ 5929955 h 6768121"/>
                <a:gd name="connsiteX1" fmla="*/ 204947 w 5997097"/>
                <a:gd name="connsiteY1" fmla="*/ 6088753 h 6768121"/>
                <a:gd name="connsiteX2" fmla="*/ 1135927 w 5997097"/>
                <a:gd name="connsiteY2" fmla="*/ 6730112 h 6768121"/>
                <a:gd name="connsiteX3" fmla="*/ 1219620 w 5997097"/>
                <a:gd name="connsiteY3" fmla="*/ 6768121 h 6768121"/>
                <a:gd name="connsiteX4" fmla="*/ 0 w 5997097"/>
                <a:gd name="connsiteY4" fmla="*/ 6768121 h 6768121"/>
                <a:gd name="connsiteX5" fmla="*/ 1389767 w 5997097"/>
                <a:gd name="connsiteY5" fmla="*/ 0 h 6768121"/>
                <a:gd name="connsiteX6" fmla="*/ 1390348 w 5997097"/>
                <a:gd name="connsiteY6" fmla="*/ 292 h 6768121"/>
                <a:gd name="connsiteX7" fmla="*/ 5997097 w 5997097"/>
                <a:gd name="connsiteY7" fmla="*/ 4099802 h 6768121"/>
                <a:gd name="connsiteX8" fmla="*/ 5082265 w 5997097"/>
                <a:gd name="connsiteY8" fmla="*/ 6052096 h 6768121"/>
                <a:gd name="connsiteX9" fmla="*/ 4527964 w 5997097"/>
                <a:gd name="connsiteY9" fmla="*/ 6748257 h 6768121"/>
                <a:gd name="connsiteX10" fmla="*/ 4507706 w 5997097"/>
                <a:gd name="connsiteY10" fmla="*/ 6768121 h 6768121"/>
                <a:gd name="connsiteX11" fmla="*/ 3011909 w 5997097"/>
                <a:gd name="connsiteY11" fmla="*/ 6768121 h 6768121"/>
                <a:gd name="connsiteX12" fmla="*/ 3041514 w 5997097"/>
                <a:gd name="connsiteY12" fmla="*/ 6756841 h 6768121"/>
                <a:gd name="connsiteX13" fmla="*/ 3339587 w 5997097"/>
                <a:gd name="connsiteY13" fmla="*/ 6603120 h 6768121"/>
                <a:gd name="connsiteX14" fmla="*/ 4359591 w 5997097"/>
                <a:gd name="connsiteY14" fmla="*/ 5561878 h 6768121"/>
                <a:gd name="connsiteX15" fmla="*/ 4626956 w 5997097"/>
                <a:gd name="connsiteY15" fmla="*/ 5185850 h 6768121"/>
                <a:gd name="connsiteX16" fmla="*/ 5124303 w 5997097"/>
                <a:gd name="connsiteY16" fmla="*/ 4099802 h 6768121"/>
                <a:gd name="connsiteX17" fmla="*/ 4823481 w 5997097"/>
                <a:gd name="connsiteY17" fmla="*/ 2904512 h 6768121"/>
                <a:gd name="connsiteX18" fmla="*/ 3983561 w 5997097"/>
                <a:gd name="connsiteY18" fmla="*/ 1863706 h 6768121"/>
                <a:gd name="connsiteX19" fmla="*/ 2761651 w 5997097"/>
                <a:gd name="connsiteY19" fmla="*/ 1136378 h 6768121"/>
                <a:gd name="connsiteX20" fmla="*/ 1390348 w 5997097"/>
                <a:gd name="connsiteY20" fmla="*/ 873085 h 6768121"/>
                <a:gd name="connsiteX21" fmla="*/ 232295 w 5997097"/>
                <a:gd name="connsiteY21" fmla="*/ 1114121 h 6768121"/>
                <a:gd name="connsiteX22" fmla="*/ 0 w 5997097"/>
                <a:gd name="connsiteY22" fmla="*/ 1238681 h 6768121"/>
                <a:gd name="connsiteX23" fmla="*/ 0 w 5997097"/>
                <a:gd name="connsiteY23" fmla="*/ 263550 h 6768121"/>
                <a:gd name="connsiteX24" fmla="*/ 34329 w 5997097"/>
                <a:gd name="connsiteY24" fmla="*/ 248767 h 6768121"/>
                <a:gd name="connsiteX25" fmla="*/ 1389767 w 5997097"/>
                <a:gd name="connsiteY25" fmla="*/ 0 h 6768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97097" h="6768121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4" name="Freeform: Shape 13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>
                <a:gd name="connsiteX0" fmla="*/ 3207935 w 6423049"/>
                <a:gd name="connsiteY0" fmla="*/ 0 h 6857275"/>
                <a:gd name="connsiteX1" fmla="*/ 6423049 w 6423049"/>
                <a:gd name="connsiteY1" fmla="*/ 0 h 6857275"/>
                <a:gd name="connsiteX2" fmla="*/ 6423049 w 6423049"/>
                <a:gd name="connsiteY2" fmla="*/ 6857275 h 6857275"/>
                <a:gd name="connsiteX3" fmla="*/ 5115455 w 6423049"/>
                <a:gd name="connsiteY3" fmla="*/ 6857275 h 6857275"/>
                <a:gd name="connsiteX4" fmla="*/ 5327016 w 6423049"/>
                <a:gd name="connsiteY4" fmla="*/ 6576778 h 6857275"/>
                <a:gd name="connsiteX5" fmla="*/ 6096492 w 6423049"/>
                <a:gd name="connsiteY5" fmla="*/ 4101445 h 6857275"/>
                <a:gd name="connsiteX6" fmla="*/ 3253269 w 6423049"/>
                <a:gd name="connsiteY6" fmla="*/ 15400 h 6857275"/>
                <a:gd name="connsiteX7" fmla="*/ 0 w 6423049"/>
                <a:gd name="connsiteY7" fmla="*/ 0 h 6857275"/>
                <a:gd name="connsiteX8" fmla="*/ 318887 w 6423049"/>
                <a:gd name="connsiteY8" fmla="*/ 0 h 6857275"/>
                <a:gd name="connsiteX9" fmla="*/ 273553 w 6423049"/>
                <a:gd name="connsiteY9" fmla="*/ 15400 h 6857275"/>
                <a:gd name="connsiteX10" fmla="*/ 76780 w 6423049"/>
                <a:gd name="connsiteY10" fmla="*/ 93287 h 6857275"/>
                <a:gd name="connsiteX11" fmla="*/ 0 w 6423049"/>
                <a:gd name="connsiteY11" fmla="*/ 128134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3049" h="6857275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 useBgFill="1">
          <p:nvSpPr>
            <p:cNvPr id="15" name="Freeform: Shape 14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>
                <a:gd name="connsiteX0" fmla="*/ 233278 w 6158587"/>
                <a:gd name="connsiteY0" fmla="*/ 0 h 6857275"/>
                <a:gd name="connsiteX1" fmla="*/ 3441063 w 6158587"/>
                <a:gd name="connsiteY1" fmla="*/ 0 h 6857275"/>
                <a:gd name="connsiteX2" fmla="*/ 3535825 w 6158587"/>
                <a:gd name="connsiteY2" fmla="*/ 38136 h 6857275"/>
                <a:gd name="connsiteX3" fmla="*/ 6158587 w 6158587"/>
                <a:gd name="connsiteY3" fmla="*/ 4076179 h 6857275"/>
                <a:gd name="connsiteX4" fmla="*/ 5573039 w 6158587"/>
                <a:gd name="connsiteY4" fmla="*/ 6283960 h 6857275"/>
                <a:gd name="connsiteX5" fmla="*/ 5222761 w 6158587"/>
                <a:gd name="connsiteY5" fmla="*/ 6804016 h 6857275"/>
                <a:gd name="connsiteX6" fmla="*/ 5179011 w 6158587"/>
                <a:gd name="connsiteY6" fmla="*/ 6857275 h 6857275"/>
                <a:gd name="connsiteX7" fmla="*/ 4477061 w 6158587"/>
                <a:gd name="connsiteY7" fmla="*/ 6857275 h 6857275"/>
                <a:gd name="connsiteX8" fmla="*/ 4532922 w 6158587"/>
                <a:gd name="connsiteY8" fmla="*/ 6798071 h 6857275"/>
                <a:gd name="connsiteX9" fmla="*/ 4660563 w 6158587"/>
                <a:gd name="connsiteY9" fmla="*/ 6651672 h 6857275"/>
                <a:gd name="connsiteX10" fmla="*/ 4772511 w 6158587"/>
                <a:gd name="connsiteY10" fmla="*/ 6513379 h 6857275"/>
                <a:gd name="connsiteX11" fmla="*/ 4781959 w 6158587"/>
                <a:gd name="connsiteY11" fmla="*/ 6501404 h 6857275"/>
                <a:gd name="connsiteX12" fmla="*/ 4800713 w 6158587"/>
                <a:gd name="connsiteY12" fmla="*/ 6476578 h 6857275"/>
                <a:gd name="connsiteX13" fmla="*/ 4897916 w 6158587"/>
                <a:gd name="connsiteY13" fmla="*/ 6345878 h 6857275"/>
                <a:gd name="connsiteX14" fmla="*/ 4953461 w 6158587"/>
                <a:gd name="connsiteY14" fmla="*/ 6268773 h 6857275"/>
                <a:gd name="connsiteX15" fmla="*/ 5015304 w 6158587"/>
                <a:gd name="connsiteY15" fmla="*/ 6182904 h 6857275"/>
                <a:gd name="connsiteX16" fmla="*/ 5136557 w 6158587"/>
                <a:gd name="connsiteY16" fmla="*/ 6021245 h 6857275"/>
                <a:gd name="connsiteX17" fmla="*/ 5232471 w 6158587"/>
                <a:gd name="connsiteY17" fmla="*/ 5895802 h 6857275"/>
                <a:gd name="connsiteX18" fmla="*/ 5377488 w 6158587"/>
                <a:gd name="connsiteY18" fmla="*/ 5704644 h 6857275"/>
                <a:gd name="connsiteX19" fmla="*/ 5492012 w 6158587"/>
                <a:gd name="connsiteY19" fmla="*/ 5545320 h 6857275"/>
                <a:gd name="connsiteX20" fmla="*/ 5598378 w 6158587"/>
                <a:gd name="connsiteY20" fmla="*/ 5383077 h 6857275"/>
                <a:gd name="connsiteX21" fmla="*/ 5694293 w 6158587"/>
                <a:gd name="connsiteY21" fmla="*/ 5215869 h 6857275"/>
                <a:gd name="connsiteX22" fmla="*/ 5726646 w 6158587"/>
                <a:gd name="connsiteY22" fmla="*/ 5151759 h 6857275"/>
                <a:gd name="connsiteX23" fmla="*/ 5736953 w 6158587"/>
                <a:gd name="connsiteY23" fmla="*/ 5130730 h 6857275"/>
                <a:gd name="connsiteX24" fmla="*/ 5748406 w 6158587"/>
                <a:gd name="connsiteY24" fmla="*/ 5105613 h 6857275"/>
                <a:gd name="connsiteX25" fmla="*/ 5775318 w 6158587"/>
                <a:gd name="connsiteY25" fmla="*/ 5043695 h 6857275"/>
                <a:gd name="connsiteX26" fmla="*/ 5887267 w 6158587"/>
                <a:gd name="connsiteY26" fmla="*/ 4677444 h 6857275"/>
                <a:gd name="connsiteX27" fmla="*/ 5925776 w 6158587"/>
                <a:gd name="connsiteY27" fmla="*/ 4291476 h 6857275"/>
                <a:gd name="connsiteX28" fmla="*/ 5837592 w 6158587"/>
                <a:gd name="connsiteY28" fmla="*/ 3514285 h 6857275"/>
                <a:gd name="connsiteX29" fmla="*/ 5728651 w 6158587"/>
                <a:gd name="connsiteY29" fmla="*/ 3139270 h 6857275"/>
                <a:gd name="connsiteX30" fmla="*/ 5728651 w 6158587"/>
                <a:gd name="connsiteY30" fmla="*/ 3138540 h 6857275"/>
                <a:gd name="connsiteX31" fmla="*/ 5707749 w 6158587"/>
                <a:gd name="connsiteY31" fmla="*/ 3080127 h 6857275"/>
                <a:gd name="connsiteX32" fmla="*/ 5695151 w 6158587"/>
                <a:gd name="connsiteY32" fmla="*/ 3046393 h 6857275"/>
                <a:gd name="connsiteX33" fmla="*/ 5662512 w 6158587"/>
                <a:gd name="connsiteY33" fmla="*/ 2963300 h 6857275"/>
                <a:gd name="connsiteX34" fmla="*/ 5659648 w 6158587"/>
                <a:gd name="connsiteY34" fmla="*/ 2956436 h 6857275"/>
                <a:gd name="connsiteX35" fmla="*/ 5641039 w 6158587"/>
                <a:gd name="connsiteY35" fmla="*/ 2911751 h 6857275"/>
                <a:gd name="connsiteX36" fmla="*/ 5621283 w 6158587"/>
                <a:gd name="connsiteY36" fmla="*/ 2867941 h 6857275"/>
                <a:gd name="connsiteX37" fmla="*/ 5581056 w 6158587"/>
                <a:gd name="connsiteY37" fmla="*/ 2780320 h 6857275"/>
                <a:gd name="connsiteX38" fmla="*/ 5397674 w 6158587"/>
                <a:gd name="connsiteY38" fmla="*/ 2438163 h 6857275"/>
                <a:gd name="connsiteX39" fmla="*/ 5182080 w 6158587"/>
                <a:gd name="connsiteY39" fmla="*/ 2116889 h 6857275"/>
                <a:gd name="connsiteX40" fmla="*/ 4676024 w 6158587"/>
                <a:gd name="connsiteY40" fmla="*/ 1540786 h 6857275"/>
                <a:gd name="connsiteX41" fmla="*/ 4391860 w 6158587"/>
                <a:gd name="connsiteY41" fmla="*/ 1286395 h 6857275"/>
                <a:gd name="connsiteX42" fmla="*/ 4318851 w 6158587"/>
                <a:gd name="connsiteY42" fmla="*/ 1226959 h 6857275"/>
                <a:gd name="connsiteX43" fmla="*/ 4306254 w 6158587"/>
                <a:gd name="connsiteY43" fmla="*/ 1216883 h 6857275"/>
                <a:gd name="connsiteX44" fmla="*/ 4244123 w 6158587"/>
                <a:gd name="connsiteY44" fmla="*/ 1168254 h 6857275"/>
                <a:gd name="connsiteX45" fmla="*/ 4092378 w 6158587"/>
                <a:gd name="connsiteY45" fmla="*/ 1055078 h 6857275"/>
                <a:gd name="connsiteX46" fmla="*/ 3449179 w 6158587"/>
                <a:gd name="connsiteY46" fmla="*/ 660348 h 6857275"/>
                <a:gd name="connsiteX47" fmla="*/ 3110758 w 6158587"/>
                <a:gd name="connsiteY47" fmla="*/ 500442 h 6857275"/>
                <a:gd name="connsiteX48" fmla="*/ 2762316 w 6158587"/>
                <a:gd name="connsiteY48" fmla="*/ 368135 h 6857275"/>
                <a:gd name="connsiteX49" fmla="*/ 2404426 w 6158587"/>
                <a:gd name="connsiteY49" fmla="*/ 264452 h 6857275"/>
                <a:gd name="connsiteX50" fmla="*/ 2040668 w 6158587"/>
                <a:gd name="connsiteY50" fmla="*/ 191435 h 6857275"/>
                <a:gd name="connsiteX51" fmla="*/ 1461459 w 6158587"/>
                <a:gd name="connsiteY51" fmla="*/ 147625 h 6857275"/>
                <a:gd name="connsiteX52" fmla="*/ 1300837 w 6158587"/>
                <a:gd name="connsiteY52" fmla="*/ 150983 h 6857275"/>
                <a:gd name="connsiteX53" fmla="*/ 932928 w 6158587"/>
                <a:gd name="connsiteY53" fmla="*/ 183842 h 6857275"/>
                <a:gd name="connsiteX54" fmla="*/ 568022 w 6158587"/>
                <a:gd name="connsiteY54" fmla="*/ 256858 h 6857275"/>
                <a:gd name="connsiteX55" fmla="*/ 39597 w 6158587"/>
                <a:gd name="connsiteY55" fmla="*/ 447169 h 6857275"/>
                <a:gd name="connsiteX56" fmla="*/ 0 w 6158587"/>
                <a:gd name="connsiteY56" fmla="*/ 467328 h 6857275"/>
                <a:gd name="connsiteX57" fmla="*/ 0 w 6158587"/>
                <a:gd name="connsiteY57" fmla="*/ 112255 h 6857275"/>
                <a:gd name="connsiteX58" fmla="*/ 79310 w 6158587"/>
                <a:gd name="connsiteY58" fmla="*/ 70390 h 685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158587" h="6857275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pic>
        <p:nvPicPr>
          <p:cNvPr id="16" name="Picture 15" descr="A blue circle with text and words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66486" y="2066690"/>
            <a:ext cx="8807086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has the evolution of mobile operating systems impacted user experience and application development?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you think Android and iOS continue to dominate the market while others have faded?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were the key technical limitations that led to the decline of Symbian, BlackBerry OS, and Windows Phone?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were to develop a new mobile OS today, what features would you prioritize to compete with Android and iOS?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835725" y="299116"/>
            <a:ext cx="10150433" cy="5924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and iOS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the only two actively maintained and dominant platforms in 2025.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Samsung OS (Tizen)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mostly used in Samsung smart devices, not smartphones.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Phone, Symbian, Series 40, and BlackBerry OS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discontinued.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KaiOS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surviving in feature phone markets.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Other/Unknown platforms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have negligible impact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5" y="749508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Ensure attainment of LOs in alignment to the learning activities:</a:t>
            </a:r>
            <a:r>
              <a:rPr lang="en-IN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outcomes (1-2)</a:t>
            </a:r>
            <a:endParaRPr lang="en-IN" sz="40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itle 1"/>
          <p:cNvGraphicFramePr/>
          <p:nvPr/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762" y="1198963"/>
            <a:ext cx="9818849" cy="1918741"/>
          </a:xfrm>
        </p:spPr>
        <p:txBody>
          <a:bodyPr>
            <a:noAutofit/>
          </a:bodyPr>
          <a:lstStyle/>
          <a:p>
            <a:r>
              <a:rPr lang="en-US" sz="5400" dirty="0">
                <a:latin typeface="Georgia" panose="02040502050405020303" pitchFamily="18" charset="0"/>
              </a:rPr>
              <a:t>Discussion on the post session activities</a:t>
            </a:r>
            <a:br>
              <a:rPr lang="en-US" sz="2800" dirty="0">
                <a:latin typeface="Georgia" panose="02040502050405020303" pitchFamily="18" charset="0"/>
              </a:rPr>
            </a:br>
            <a:br>
              <a:rPr lang="en-US" sz="2800" dirty="0">
                <a:latin typeface="Georgia" panose="02040502050405020303" pitchFamily="18" charset="0"/>
              </a:rPr>
            </a:br>
            <a:endParaRPr lang="en-IN" sz="2800" dirty="0">
              <a:latin typeface="Georgia" panose="02040502050405020303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pic>
        <p:nvPicPr>
          <p:cNvPr id="7" name="Picture 6" descr="A blue circle with text and words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3808" y="614120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Review and Reflection from students</a:t>
            </a:r>
            <a:endParaRPr lang="en-US" sz="4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Graphic 5" descr="Smiling Face with No Fill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/>
          <p:cNvGrpSpPr>
            <a:grpSpLocks noGrp="1" noRot="1" noChangeAspect="1" noMove="1" noResize="1" noUngrp="1"/>
          </p:cNvGrpSpPr>
          <p:nvPr/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/>
            <p:cNvSpPr/>
            <p:nvPr/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/>
            <p:cNvSpPr/>
            <p:nvPr/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/>
            <p:cNvSpPr/>
            <p:nvPr/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</a:fld>
            <a:endParaRPr lang="en-IN"/>
          </a:p>
        </p:txBody>
      </p:sp>
      <p:pic>
        <p:nvPicPr>
          <p:cNvPr id="8" name="Picture 7" descr="A blue circle with text and words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321" y="1815320"/>
            <a:ext cx="5892347" cy="46290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5532</Words>
  <Application>WPS Presentation</Application>
  <PresentationFormat>Widescreen</PresentationFormat>
  <Paragraphs>552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6" baseType="lpstr">
      <vt:lpstr>Arial</vt:lpstr>
      <vt:lpstr>SimSun</vt:lpstr>
      <vt:lpstr>Wingdings</vt:lpstr>
      <vt:lpstr>Georgia</vt:lpstr>
      <vt:lpstr>Calibri</vt:lpstr>
      <vt:lpstr>Cambria</vt:lpstr>
      <vt:lpstr>Times New Roman</vt:lpstr>
      <vt:lpstr>Symbol</vt:lpstr>
      <vt:lpstr>Calibri</vt:lpstr>
      <vt:lpstr>Helvetica</vt:lpstr>
      <vt:lpstr>Aptos</vt:lpstr>
      <vt:lpstr>Segoe UI</vt:lpstr>
      <vt:lpstr>Microsoft YaHei</vt:lpstr>
      <vt:lpstr>Arial Unicode MS</vt:lpstr>
      <vt:lpstr>Aptos Display</vt:lpstr>
      <vt:lpstr>Segoe UI Variable Display</vt:lpstr>
      <vt:lpstr>Office Theme</vt:lpstr>
      <vt:lpstr>Comparing Android with other Platforms    Session No.: 5 Course Name: Mobile Application Development Course Code: R1UC631B Instructor Name: Mr.P.Uppiliraja</vt:lpstr>
      <vt:lpstr>Reflect on the responses of post session activity  </vt:lpstr>
      <vt:lpstr>What factors do you think for success or failure of any product(OS)?</vt:lpstr>
      <vt:lpstr>At the end of this session students will be able to </vt:lpstr>
      <vt:lpstr>Session Outline</vt:lpstr>
      <vt:lpstr>Concept and Definition for  Learning Activity 1</vt:lpstr>
      <vt:lpstr>Various Mobiles &amp; Mobile OS </vt:lpstr>
      <vt:lpstr>Market share of mobile operating systems worldwide from 2009 to 2024, by quarter</vt:lpstr>
      <vt:lpstr>Learning Activity 1: Think-Pair-Share</vt:lpstr>
      <vt:lpstr>PowerPoint 演示文稿</vt:lpstr>
      <vt:lpstr>Learning Activity 2: Jigsaw</vt:lpstr>
      <vt:lpstr>Comparison among various mobile platforms</vt:lpstr>
      <vt:lpstr>PowerPoint 演示文稿</vt:lpstr>
      <vt:lpstr>PowerPoint 演示文稿</vt:lpstr>
      <vt:lpstr>Reflection- Learning Activity 2</vt:lpstr>
      <vt:lpstr>PowerPoint 演示文稿</vt:lpstr>
      <vt:lpstr>Ensure attainment of LOs in alignment to the learning activities: outcomes (1-2)</vt:lpstr>
      <vt:lpstr>Discussion on the post session activities  </vt:lpstr>
      <vt:lpstr>Review and Reflection from students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Title    Session No.: Course Name:  Course Code: Instructor Name:</dc:title>
  <dc:creator>Deepak Gupta</dc:creator>
  <cp:lastModifiedBy>Omjee KUMAR</cp:lastModifiedBy>
  <cp:revision>43</cp:revision>
  <dcterms:created xsi:type="dcterms:W3CDTF">2024-08-22T06:33:00Z</dcterms:created>
  <dcterms:modified xsi:type="dcterms:W3CDTF">2026-04-16T17:56:57Z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6E55C2986D6C4BC4B46948E25A197E1C_12</vt:lpwstr>
  </property>
  <property fmtid="{D5CDD505-2E9C-101B-9397-08002B2CF9AE}" pid="3" name="KSOProductBuildVer">
    <vt:lpwstr>2057-12.2.0.23201</vt:lpwstr>
  </property>
</Properties>
</file>